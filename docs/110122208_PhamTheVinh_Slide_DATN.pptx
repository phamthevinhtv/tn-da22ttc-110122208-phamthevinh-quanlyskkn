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9" r:id="rId4"/>
    <p:sldId id="271" r:id="rId5"/>
    <p:sldId id="258" r:id="rId6"/>
    <p:sldId id="270" r:id="rId7"/>
    <p:sldId id="259" r:id="rId8"/>
    <p:sldId id="264" r:id="rId9"/>
    <p:sldId id="267" r:id="rId10"/>
    <p:sldId id="266" r:id="rId11"/>
    <p:sldId id="268" r:id="rId1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34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8" autoAdjust="0"/>
    <p:restoredTop sz="94660"/>
  </p:normalViewPr>
  <p:slideViewPr>
    <p:cSldViewPr snapToGrid="0">
      <p:cViewPr varScale="1">
        <p:scale>
          <a:sx n="79" d="100"/>
          <a:sy n="79" d="100"/>
        </p:scale>
        <p:origin x="107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E2E3BF-0AEB-42A4-8FF6-AEE881CEA84A}" type="datetimeFigureOut">
              <a:rPr lang="vi-VN" smtClean="0"/>
              <a:t>07/07/2026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B899C-1D59-4F18-A1D2-9237D17F420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74934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14FA-AE9A-4CAD-86FB-E2DE0543F47F}" type="datetimeFigureOut">
              <a:rPr lang="vi-VN" smtClean="0"/>
              <a:t>07/07/2026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400BB-79BD-46DF-BF3D-8C0155553C8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96401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14FA-AE9A-4CAD-86FB-E2DE0543F47F}" type="datetimeFigureOut">
              <a:rPr lang="vi-VN" smtClean="0"/>
              <a:t>07/07/2026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400BB-79BD-46DF-BF3D-8C0155553C8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78432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14FA-AE9A-4CAD-86FB-E2DE0543F47F}" type="datetimeFigureOut">
              <a:rPr lang="vi-VN" smtClean="0"/>
              <a:t>07/07/2026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400BB-79BD-46DF-BF3D-8C0155553C8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34310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14FA-AE9A-4CAD-86FB-E2DE0543F47F}" type="datetimeFigureOut">
              <a:rPr lang="vi-VN" smtClean="0"/>
              <a:t>07/07/2026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400BB-79BD-46DF-BF3D-8C0155553C8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89571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14FA-AE9A-4CAD-86FB-E2DE0543F47F}" type="datetimeFigureOut">
              <a:rPr lang="vi-VN" smtClean="0"/>
              <a:t>07/07/2026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400BB-79BD-46DF-BF3D-8C0155553C8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90983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14FA-AE9A-4CAD-86FB-E2DE0543F47F}" type="datetimeFigureOut">
              <a:rPr lang="vi-VN" smtClean="0"/>
              <a:t>07/07/2026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400BB-79BD-46DF-BF3D-8C0155553C8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98058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14FA-AE9A-4CAD-86FB-E2DE0543F47F}" type="datetimeFigureOut">
              <a:rPr lang="vi-VN" smtClean="0"/>
              <a:t>07/07/2026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400BB-79BD-46DF-BF3D-8C0155553C8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37009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14FA-AE9A-4CAD-86FB-E2DE0543F47F}" type="datetimeFigureOut">
              <a:rPr lang="vi-VN" smtClean="0"/>
              <a:t>07/07/2026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400BB-79BD-46DF-BF3D-8C0155553C8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80529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14FA-AE9A-4CAD-86FB-E2DE0543F47F}" type="datetimeFigureOut">
              <a:rPr lang="vi-VN" smtClean="0"/>
              <a:t>07/07/2026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400BB-79BD-46DF-BF3D-8C0155553C8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22104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14FA-AE9A-4CAD-86FB-E2DE0543F47F}" type="datetimeFigureOut">
              <a:rPr lang="vi-VN" smtClean="0"/>
              <a:t>07/07/2026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400BB-79BD-46DF-BF3D-8C0155553C8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35810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14FA-AE9A-4CAD-86FB-E2DE0543F47F}" type="datetimeFigureOut">
              <a:rPr lang="vi-VN" smtClean="0"/>
              <a:t>07/07/2026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400BB-79BD-46DF-BF3D-8C0155553C8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85660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2914FA-AE9A-4CAD-86FB-E2DE0543F47F}" type="datetimeFigureOut">
              <a:rPr lang="vi-VN" smtClean="0"/>
              <a:t>07/07/2026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400BB-79BD-46DF-BF3D-8C0155553C8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88072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50938"/>
            <a:ext cx="9144000" cy="1095375"/>
          </a:xfrm>
        </p:spPr>
        <p:txBody>
          <a:bodyPr anchor="ctr">
            <a:normAutofit/>
          </a:bodyPr>
          <a:lstStyle/>
          <a:p>
            <a:r>
              <a:rPr lang="vi-VN" sz="2400" b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ĐẠI HỌC TRÀ VINH</a:t>
            </a:r>
            <a:br>
              <a:rPr lang="vi-VN" sz="2400" b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vi-VN" sz="2400" b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TRƯỜNG KỸ THUẬT VÀ CÔNG NGHỆ</a:t>
            </a:r>
            <a:endParaRPr lang="vi-VN" sz="24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848253"/>
            <a:ext cx="9144000" cy="398834"/>
          </a:xfrm>
        </p:spPr>
        <p:txBody>
          <a:bodyPr anchor="ctr">
            <a:noAutofit/>
          </a:bodyPr>
          <a:lstStyle/>
          <a:p>
            <a:r>
              <a:rPr lang="en-US" sz="2800" b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ĐỒ ÁN TỐT NGHIỆP</a:t>
            </a:r>
            <a:endParaRPr lang="vi-VN" sz="28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 descr="C:\Users\thevi\AppData\Local\Microsoft\Windows\Clipboard\HistoryData\{7833C2A7-A3CB-481E-B880-C43EB52CA479}\{6682D22E-38CE-42B6-A451-DFB5313782C6}\ResourceMap\{F06AC49A-3D44-4869-A900-B79663DBCD0A}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589" y="350938"/>
            <a:ext cx="1080000" cy="1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ubtitle 2"/>
          <p:cNvSpPr txBox="1">
            <a:spLocks/>
          </p:cNvSpPr>
          <p:nvPr/>
        </p:nvSpPr>
        <p:spPr>
          <a:xfrm>
            <a:off x="1342417" y="2373550"/>
            <a:ext cx="9507167" cy="19066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3600" b="1" smtClean="0">
                <a:solidFill>
                  <a:srgbClr val="0534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XÂY DỰNG HỆ THỐNG QUẢN LÝ </a:t>
            </a:r>
          </a:p>
          <a:p>
            <a:r>
              <a:rPr lang="vi-VN" sz="3600" b="1" smtClean="0">
                <a:solidFill>
                  <a:srgbClr val="0534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SÁNG KIẾN KINH NGHIỆM CỦA GIẢNG VIÊN </a:t>
            </a:r>
          </a:p>
          <a:p>
            <a:r>
              <a:rPr lang="vi-VN" sz="3600" b="1" smtClean="0">
                <a:solidFill>
                  <a:srgbClr val="0534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Ở TRƯỜNG ĐẠI HỌC THEO HƯỚNG NGỮ NGHĨA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2577019" y="4400005"/>
            <a:ext cx="7037962" cy="11836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20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GVHD: TS. Nguyễn Trần Diễm Hạnh	</a:t>
            </a:r>
            <a:r>
              <a:rPr lang="en-US" sz="20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SVTH</a:t>
            </a:r>
            <a:r>
              <a:rPr lang="en-US" sz="20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Phạm Thế </a:t>
            </a:r>
            <a:r>
              <a:rPr lang="en-US" sz="20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Vinh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0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Lớp: DA22TTC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20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	MSSV: 110122208</a:t>
            </a:r>
            <a:endParaRPr lang="vi-VN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678000"/>
            <a:ext cx="12191999" cy="180000"/>
          </a:xfrm>
          <a:prstGeom prst="rect">
            <a:avLst/>
          </a:prstGeom>
          <a:solidFill>
            <a:srgbClr val="05348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91976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472750"/>
            <a:ext cx="10515600" cy="729574"/>
          </a:xfrm>
        </p:spPr>
        <p:txBody>
          <a:bodyPr>
            <a:normAutofit/>
          </a:bodyPr>
          <a:lstStyle/>
          <a:p>
            <a:r>
              <a:rPr lang="vi-VN" sz="3600" b="1">
                <a:solidFill>
                  <a:srgbClr val="0534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Tính </a:t>
            </a:r>
            <a:r>
              <a:rPr lang="vi-VN" sz="3600" b="1">
                <a:solidFill>
                  <a:srgbClr val="0534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cấp </a:t>
            </a:r>
            <a:r>
              <a:rPr lang="vi-VN" sz="3600" b="1" smtClean="0">
                <a:solidFill>
                  <a:srgbClr val="0534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thiết</a:t>
            </a:r>
            <a:endParaRPr lang="vi-VN" sz="3600" b="1">
              <a:solidFill>
                <a:srgbClr val="05348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6835"/>
            <a:ext cx="10515600" cy="5231165"/>
          </a:xfrm>
        </p:spPr>
        <p:txBody>
          <a:bodyPr>
            <a:normAutofit/>
          </a:bodyPr>
          <a:lstStyle/>
          <a:p>
            <a:pPr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Sitka Text Semibold" pitchFamily="2" charset="0"/>
              <a:buChar char="-"/>
            </a:pP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Phương thức q</a:t>
            </a: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uản </a:t>
            </a: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lý </a:t>
            </a: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còn </a:t>
            </a: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thủ công, lưu trữ riêng lẻ, phân tán.  </a:t>
            </a:r>
          </a:p>
          <a:p>
            <a:pPr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Sitka Text Semibold" pitchFamily="2" charset="0"/>
              <a:buChar char="-"/>
            </a:pP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 cứu thông tin theo từ khóa đơn giản.</a:t>
            </a:r>
          </a:p>
          <a:p>
            <a:pPr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Sitka Text Semibold" pitchFamily="2" charset="0"/>
              <a:buChar char="-"/>
            </a:pP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Quy trình xét duyệt, đánh giá qua nhiều giai đoạn, cần số hóa thống nhất.  </a:t>
            </a:r>
          </a:p>
        </p:txBody>
      </p:sp>
      <p:sp>
        <p:nvSpPr>
          <p:cNvPr id="4" name="Rectangle 3"/>
          <p:cNvSpPr/>
          <p:nvPr/>
        </p:nvSpPr>
        <p:spPr>
          <a:xfrm>
            <a:off x="336000" y="1202324"/>
            <a:ext cx="11520000" cy="72000"/>
          </a:xfrm>
          <a:prstGeom prst="rect">
            <a:avLst/>
          </a:prstGeom>
          <a:solidFill>
            <a:srgbClr val="05348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Rectangle 4"/>
          <p:cNvSpPr/>
          <p:nvPr/>
        </p:nvSpPr>
        <p:spPr>
          <a:xfrm>
            <a:off x="0" y="6678000"/>
            <a:ext cx="12191999" cy="180000"/>
          </a:xfrm>
          <a:prstGeom prst="rect">
            <a:avLst/>
          </a:prstGeom>
          <a:solidFill>
            <a:srgbClr val="05348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85970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472750"/>
            <a:ext cx="10515600" cy="729574"/>
          </a:xfrm>
        </p:spPr>
        <p:txBody>
          <a:bodyPr>
            <a:normAutofit/>
          </a:bodyPr>
          <a:lstStyle/>
          <a:p>
            <a:r>
              <a:rPr lang="vi-VN" sz="3600" b="1">
                <a:solidFill>
                  <a:srgbClr val="0534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Mục tiêu </a:t>
            </a:r>
            <a:r>
              <a:rPr lang="vi-VN" sz="3600" b="1">
                <a:solidFill>
                  <a:srgbClr val="0534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nghiên </a:t>
            </a:r>
            <a:r>
              <a:rPr lang="vi-VN" sz="3600" b="1" smtClean="0">
                <a:solidFill>
                  <a:srgbClr val="0534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cứu</a:t>
            </a:r>
            <a:endParaRPr lang="vi-VN" sz="3600" b="1">
              <a:solidFill>
                <a:srgbClr val="05348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6835"/>
            <a:ext cx="10515600" cy="5231165"/>
          </a:xfrm>
        </p:spPr>
        <p:txBody>
          <a:bodyPr>
            <a:normAutofit/>
          </a:bodyPr>
          <a:lstStyle/>
          <a:p>
            <a:pPr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Sitka Text Semibold" pitchFamily="2" charset="0"/>
              <a:buChar char="-"/>
            </a:pP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Xây </a:t>
            </a: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dựng phần mềm quản lý tập trung hồ sơ, tiếp nhận và đánh giá.  </a:t>
            </a:r>
          </a:p>
          <a:p>
            <a:pPr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Sitka Text Semibold" pitchFamily="2" charset="0"/>
              <a:buChar char="-"/>
            </a:pP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Tích hợp chức năng tìm kiếm theo hướng ngữ nghĩa ở mức cơ bản. </a:t>
            </a:r>
            <a:endParaRPr lang="vi-VN" sz="2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36000" y="1202324"/>
            <a:ext cx="11520000" cy="72000"/>
          </a:xfrm>
          <a:prstGeom prst="rect">
            <a:avLst/>
          </a:prstGeom>
          <a:solidFill>
            <a:srgbClr val="05348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Rectangle 4"/>
          <p:cNvSpPr/>
          <p:nvPr/>
        </p:nvSpPr>
        <p:spPr>
          <a:xfrm>
            <a:off x="0" y="6678000"/>
            <a:ext cx="12191999" cy="180000"/>
          </a:xfrm>
          <a:prstGeom prst="rect">
            <a:avLst/>
          </a:prstGeom>
          <a:solidFill>
            <a:srgbClr val="05348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61329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472750"/>
            <a:ext cx="10515600" cy="729574"/>
          </a:xfrm>
        </p:spPr>
        <p:txBody>
          <a:bodyPr>
            <a:normAutofit/>
          </a:bodyPr>
          <a:lstStyle/>
          <a:p>
            <a:r>
              <a:rPr lang="vi-VN" sz="3600" b="1" smtClean="0">
                <a:solidFill>
                  <a:srgbClr val="0534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Nội dung nghiên cứu</a:t>
            </a:r>
            <a:endParaRPr lang="vi-VN" sz="3600" b="1">
              <a:solidFill>
                <a:srgbClr val="05348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6835"/>
            <a:ext cx="10515600" cy="5231165"/>
          </a:xfrm>
        </p:spPr>
        <p:txBody>
          <a:bodyPr>
            <a:normAutofit/>
          </a:bodyPr>
          <a:lstStyle/>
          <a:p>
            <a:pPr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Sitka Text Semibold" pitchFamily="2" charset="0"/>
              <a:buChar char="-"/>
            </a:pP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Quy trình xử lý sáng kiến</a:t>
            </a:r>
          </a:p>
          <a:p>
            <a:pPr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Sitka Text Semibold" pitchFamily="2" charset="0"/>
              <a:buChar char="-"/>
            </a:pP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Kỹ thuật N-grams</a:t>
            </a:r>
            <a:endParaRPr lang="vi-VN" sz="260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Sitka Text Semibold" pitchFamily="2" charset="0"/>
              <a:buChar char="-"/>
            </a:pP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Xử lý văn bản và tìm kiếm theo hướng ngữ nghĩa</a:t>
            </a:r>
          </a:p>
          <a:p>
            <a:pPr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Sitka Text Semibold" pitchFamily="2" charset="0"/>
              <a:buChar char="-"/>
            </a:pPr>
            <a:r>
              <a:rPr lang="vi-VN" sz="2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Nền tảng ASP.NET </a:t>
            </a:r>
            <a:r>
              <a:rPr lang="vi-VN" sz="2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</a:t>
            </a: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MVC</a:t>
            </a:r>
            <a:r>
              <a:rPr lang="vi-VN" sz="2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với ngôn ngữ C#</a:t>
            </a:r>
          </a:p>
          <a:p>
            <a:pPr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Sitka Text Semibold" pitchFamily="2" charset="0"/>
              <a:buChar char="-"/>
            </a:pP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Hệ quản trị cơ sở dữ Oracle</a:t>
            </a:r>
          </a:p>
          <a:p>
            <a:pPr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Sitka Text Semibold" pitchFamily="2" charset="0"/>
              <a:buChar char="-"/>
            </a:pPr>
            <a:r>
              <a:rPr lang="vi-VN" sz="2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Tìm hiểu LLM và Generative AI</a:t>
            </a:r>
            <a:endParaRPr lang="vi-VN" sz="2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36000" y="1202324"/>
            <a:ext cx="11520000" cy="72000"/>
          </a:xfrm>
          <a:prstGeom prst="rect">
            <a:avLst/>
          </a:prstGeom>
          <a:solidFill>
            <a:srgbClr val="05348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Rectangle 4"/>
          <p:cNvSpPr/>
          <p:nvPr/>
        </p:nvSpPr>
        <p:spPr>
          <a:xfrm>
            <a:off x="0" y="6678000"/>
            <a:ext cx="12191999" cy="180000"/>
          </a:xfrm>
          <a:prstGeom prst="rect">
            <a:avLst/>
          </a:prstGeom>
          <a:solidFill>
            <a:srgbClr val="05348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15783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472750"/>
            <a:ext cx="10515600" cy="729574"/>
          </a:xfrm>
        </p:spPr>
        <p:txBody>
          <a:bodyPr>
            <a:normAutofit/>
          </a:bodyPr>
          <a:lstStyle/>
          <a:p>
            <a:r>
              <a:rPr lang="vi-VN" sz="3600" b="1">
                <a:solidFill>
                  <a:srgbClr val="0534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Quy </a:t>
            </a:r>
            <a:r>
              <a:rPr lang="vi-VN" sz="3600" b="1">
                <a:solidFill>
                  <a:srgbClr val="0534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trình </a:t>
            </a:r>
            <a:r>
              <a:rPr lang="vi-VN" sz="3600" b="1" smtClean="0">
                <a:solidFill>
                  <a:srgbClr val="0534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xử </a:t>
            </a:r>
            <a:r>
              <a:rPr lang="vi-VN" sz="3600" b="1">
                <a:solidFill>
                  <a:srgbClr val="0534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lý </a:t>
            </a:r>
            <a:r>
              <a:rPr lang="vi-VN" sz="3600" b="1">
                <a:solidFill>
                  <a:srgbClr val="0534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sáng </a:t>
            </a:r>
            <a:r>
              <a:rPr lang="vi-VN" sz="3600" b="1" smtClean="0">
                <a:solidFill>
                  <a:srgbClr val="0534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kiến</a:t>
            </a:r>
            <a:endParaRPr lang="vi-VN" sz="3600" b="1">
              <a:solidFill>
                <a:srgbClr val="05348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6835"/>
            <a:ext cx="10515600" cy="5231165"/>
          </a:xfrm>
        </p:spPr>
        <p:txBody>
          <a:bodyPr>
            <a:normAutofit/>
          </a:bodyPr>
          <a:lstStyle/>
          <a:p>
            <a:pPr marL="514350" indent="-514350"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Nộp sáng kiến</a:t>
            </a:r>
          </a:p>
          <a:p>
            <a:pPr marL="514350" indent="-514350"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Tiếp nhận, kiểm tra</a:t>
            </a:r>
          </a:p>
          <a:p>
            <a:pPr marL="514350" indent="-514350"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Thành lập hội đồng</a:t>
            </a:r>
            <a:endParaRPr lang="vi-VN" sz="260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Đánh giá</a:t>
            </a:r>
          </a:p>
          <a:p>
            <a:pPr marL="514350" indent="-514350"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Công bố kết quả</a:t>
            </a:r>
          </a:p>
          <a:p>
            <a:pPr marL="514350" indent="-514350"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Phúc khảo (nếu có)</a:t>
            </a:r>
          </a:p>
          <a:p>
            <a:pPr marL="514350" indent="-514350"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Quyết định công nhận</a:t>
            </a:r>
            <a:endParaRPr lang="vi-VN" sz="2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36000" y="1202324"/>
            <a:ext cx="11520000" cy="72000"/>
          </a:xfrm>
          <a:prstGeom prst="rect">
            <a:avLst/>
          </a:prstGeom>
          <a:solidFill>
            <a:srgbClr val="05348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Rectangle 4"/>
          <p:cNvSpPr/>
          <p:nvPr/>
        </p:nvSpPr>
        <p:spPr>
          <a:xfrm>
            <a:off x="0" y="6678000"/>
            <a:ext cx="12191999" cy="180000"/>
          </a:xfrm>
          <a:prstGeom prst="rect">
            <a:avLst/>
          </a:prstGeom>
          <a:solidFill>
            <a:srgbClr val="05348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2878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472750"/>
            <a:ext cx="10515600" cy="729574"/>
          </a:xfrm>
        </p:spPr>
        <p:txBody>
          <a:bodyPr>
            <a:normAutofit/>
          </a:bodyPr>
          <a:lstStyle/>
          <a:p>
            <a:r>
              <a:rPr lang="vi-VN" sz="3600" b="1" smtClean="0">
                <a:solidFill>
                  <a:srgbClr val="0534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Xử </a:t>
            </a:r>
            <a:r>
              <a:rPr lang="vi-VN" sz="3600" b="1">
                <a:solidFill>
                  <a:srgbClr val="0534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lý </a:t>
            </a:r>
            <a:r>
              <a:rPr lang="vi-VN" sz="3600" b="1" smtClean="0">
                <a:solidFill>
                  <a:srgbClr val="0534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văn bản và tìm kiếm theo hướng ngữ nghĩa</a:t>
            </a:r>
            <a:endParaRPr lang="vi-VN" sz="3600" b="1">
              <a:solidFill>
                <a:srgbClr val="05348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6835"/>
            <a:ext cx="10515600" cy="5231165"/>
          </a:xfrm>
        </p:spPr>
        <p:txBody>
          <a:bodyPr>
            <a:normAutofit/>
          </a:bodyPr>
          <a:lstStyle/>
          <a:p>
            <a:pPr marL="514350" indent="-514350"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Tiền xử lý văn bản</a:t>
            </a:r>
          </a:p>
          <a:p>
            <a:pPr marL="514350" indent="-514350"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Sinh cụm từ với N-grams</a:t>
            </a:r>
          </a:p>
          <a:p>
            <a:pPr marL="514350" indent="-514350"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Lọc cụm từ</a:t>
            </a:r>
          </a:p>
          <a:p>
            <a:pPr marL="514350" indent="-514350"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Lưu trữ </a:t>
            </a:r>
          </a:p>
          <a:p>
            <a:pPr marL="514350" indent="-514350"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Xử lý nội dung tìm kiếm</a:t>
            </a:r>
          </a:p>
          <a:p>
            <a:pPr marL="514350" indent="-514350"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Đối chiếu, xác định mức độ liên quan</a:t>
            </a:r>
          </a:p>
          <a:p>
            <a:pPr marL="514350" indent="-514350"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Truy xuất kết quả theo xếp hạng</a:t>
            </a:r>
            <a:endParaRPr lang="vi-VN" sz="2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36000" y="1202324"/>
            <a:ext cx="11520000" cy="72000"/>
          </a:xfrm>
          <a:prstGeom prst="rect">
            <a:avLst/>
          </a:prstGeom>
          <a:solidFill>
            <a:srgbClr val="05348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Rectangle 4"/>
          <p:cNvSpPr/>
          <p:nvPr/>
        </p:nvSpPr>
        <p:spPr>
          <a:xfrm>
            <a:off x="0" y="6678000"/>
            <a:ext cx="12191999" cy="180000"/>
          </a:xfrm>
          <a:prstGeom prst="rect">
            <a:avLst/>
          </a:prstGeom>
          <a:solidFill>
            <a:srgbClr val="05348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36115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472750"/>
            <a:ext cx="10515600" cy="729574"/>
          </a:xfrm>
        </p:spPr>
        <p:txBody>
          <a:bodyPr>
            <a:normAutofit/>
          </a:bodyPr>
          <a:lstStyle/>
          <a:p>
            <a:r>
              <a:rPr lang="vi-VN" sz="3600" b="1">
                <a:solidFill>
                  <a:srgbClr val="0534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Chức năng </a:t>
            </a:r>
            <a:r>
              <a:rPr lang="vi-VN" sz="3600" b="1">
                <a:solidFill>
                  <a:srgbClr val="0534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hệ </a:t>
            </a:r>
            <a:r>
              <a:rPr lang="vi-VN" sz="3600" b="1" smtClean="0">
                <a:solidFill>
                  <a:srgbClr val="0534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thống</a:t>
            </a:r>
            <a:endParaRPr lang="vi-VN" sz="3600" b="1">
              <a:solidFill>
                <a:srgbClr val="05348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6835"/>
            <a:ext cx="10515600" cy="5231165"/>
          </a:xfrm>
        </p:spPr>
        <p:txBody>
          <a:bodyPr>
            <a:normAutofit/>
          </a:bodyPr>
          <a:lstStyle/>
          <a:p>
            <a:pPr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Sitka Text Semibold" pitchFamily="2" charset="0"/>
              <a:buChar char="-"/>
            </a:pP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 </a:t>
            </a: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tài khoản: Quản lý tài khoản người dùng </a:t>
            </a:r>
          </a:p>
          <a:p>
            <a:pPr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Sitka Text Semibold" pitchFamily="2" charset="0"/>
              <a:buChar char="-"/>
            </a:pP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 giám đốc: Quản lý các danh </a:t>
            </a: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mục, sáng kiến, </a:t>
            </a: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hội đồng, xem thống kê.  </a:t>
            </a:r>
          </a:p>
          <a:p>
            <a:pPr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Sitka Text Semibold" pitchFamily="2" charset="0"/>
              <a:buChar char="-"/>
            </a:pP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Đơn vị trực thuộc: Tiếp nhận và xét duyệt sáng kiến, xem thống kê nội bộ.  </a:t>
            </a:r>
          </a:p>
          <a:p>
            <a:pPr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Sitka Text Semibold" pitchFamily="2" charset="0"/>
              <a:buChar char="-"/>
            </a:pP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Hội đồng: Đánh </a:t>
            </a: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giá sáng </a:t>
            </a: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kiến.  </a:t>
            </a:r>
          </a:p>
          <a:p>
            <a:pPr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Sitka Text Semibold" pitchFamily="2" charset="0"/>
              <a:buChar char="-"/>
            </a:pP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Cán bộ, giảng viên: Nộp, chỉnh sửa hồ sơ. </a:t>
            </a:r>
          </a:p>
        </p:txBody>
      </p:sp>
      <p:sp>
        <p:nvSpPr>
          <p:cNvPr id="4" name="Rectangle 3"/>
          <p:cNvSpPr/>
          <p:nvPr/>
        </p:nvSpPr>
        <p:spPr>
          <a:xfrm>
            <a:off x="336000" y="1202324"/>
            <a:ext cx="11520000" cy="72000"/>
          </a:xfrm>
          <a:prstGeom prst="rect">
            <a:avLst/>
          </a:prstGeom>
          <a:solidFill>
            <a:srgbClr val="05348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Rectangle 4"/>
          <p:cNvSpPr/>
          <p:nvPr/>
        </p:nvSpPr>
        <p:spPr>
          <a:xfrm>
            <a:off x="0" y="6678000"/>
            <a:ext cx="12191999" cy="180000"/>
          </a:xfrm>
          <a:prstGeom prst="rect">
            <a:avLst/>
          </a:prstGeom>
          <a:solidFill>
            <a:srgbClr val="05348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92558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472750"/>
            <a:ext cx="10515600" cy="729574"/>
          </a:xfrm>
        </p:spPr>
        <p:txBody>
          <a:bodyPr>
            <a:normAutofit/>
          </a:bodyPr>
          <a:lstStyle/>
          <a:p>
            <a:r>
              <a:rPr lang="vi-VN" sz="3600" b="1" smtClean="0">
                <a:solidFill>
                  <a:srgbClr val="0534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Kết quả đạt được</a:t>
            </a:r>
            <a:endParaRPr lang="vi-VN" sz="3600" b="1">
              <a:solidFill>
                <a:srgbClr val="05348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6835"/>
            <a:ext cx="10515600" cy="5231165"/>
          </a:xfrm>
        </p:spPr>
        <p:txBody>
          <a:bodyPr>
            <a:normAutofit/>
          </a:bodyPr>
          <a:lstStyle/>
          <a:p>
            <a:pPr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Sitka Text Semibold" pitchFamily="2" charset="0"/>
              <a:buChar char="-"/>
            </a:pP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Xây dựng website </a:t>
            </a:r>
            <a:r>
              <a:rPr lang="vi-VN" sz="2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quản lý sáng </a:t>
            </a:r>
            <a:r>
              <a:rPr lang="vi-VN" sz="2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kiến </a:t>
            </a: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kinh nghiệm. </a:t>
            </a:r>
            <a:endParaRPr lang="vi-VN" sz="2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Sitka Text Semibold" pitchFamily="2" charset="0"/>
              <a:buChar char="-"/>
            </a:pP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Tìm </a:t>
            </a:r>
            <a:r>
              <a:rPr lang="vi-VN" sz="2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hiểu về mô hình ngôn ngữ lớn và tạo dữ liệu bằng AI.</a:t>
            </a:r>
          </a:p>
          <a:p>
            <a:pPr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Sitka Text Semibold" pitchFamily="2" charset="0"/>
              <a:buChar char="-"/>
            </a:pPr>
            <a:r>
              <a:rPr lang="vi-VN" sz="2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Ứng dụng kỹ thuật N-grams hỗ trợ tìm kiếm </a:t>
            </a:r>
            <a:r>
              <a:rPr lang="vi-VN" sz="2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theo </a:t>
            </a: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hướng ngữ </a:t>
            </a:r>
            <a:r>
              <a:rPr lang="vi-VN" sz="2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nghĩa cơ bản.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36000" y="1202324"/>
            <a:ext cx="11520000" cy="72000"/>
          </a:xfrm>
          <a:prstGeom prst="rect">
            <a:avLst/>
          </a:prstGeom>
          <a:solidFill>
            <a:srgbClr val="05348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Rectangle 4"/>
          <p:cNvSpPr/>
          <p:nvPr/>
        </p:nvSpPr>
        <p:spPr>
          <a:xfrm>
            <a:off x="0" y="6678000"/>
            <a:ext cx="12191999" cy="180000"/>
          </a:xfrm>
          <a:prstGeom prst="rect">
            <a:avLst/>
          </a:prstGeom>
          <a:solidFill>
            <a:srgbClr val="05348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21326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472750"/>
            <a:ext cx="10515600" cy="729574"/>
          </a:xfrm>
        </p:spPr>
        <p:txBody>
          <a:bodyPr>
            <a:normAutofit/>
          </a:bodyPr>
          <a:lstStyle/>
          <a:p>
            <a:r>
              <a:rPr lang="vi-VN" sz="3600" b="1" smtClean="0">
                <a:solidFill>
                  <a:srgbClr val="0534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Hạn chế</a:t>
            </a:r>
            <a:endParaRPr lang="vi-VN" sz="3600" b="1">
              <a:solidFill>
                <a:srgbClr val="05348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6835"/>
            <a:ext cx="10515600" cy="5231165"/>
          </a:xfrm>
        </p:spPr>
        <p:txBody>
          <a:bodyPr>
            <a:normAutofit/>
          </a:bodyPr>
          <a:lstStyle/>
          <a:p>
            <a:pPr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Sitka Text Semibold" pitchFamily="2" charset="0"/>
              <a:buChar char="-"/>
            </a:pP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Tìm </a:t>
            </a: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kiếm ngữ nghĩa còn đơn giản, chưa xử lý được các ngữ cảnh phức tạp.</a:t>
            </a:r>
          </a:p>
          <a:p>
            <a:pPr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Sitka Text Semibold" pitchFamily="2" charset="0"/>
              <a:buChar char="-"/>
            </a:pP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Thống kê dừng lại ở mức tổng hợp trực quan, chưa phân tích chuyên sâu.</a:t>
            </a:r>
          </a:p>
        </p:txBody>
      </p:sp>
      <p:sp>
        <p:nvSpPr>
          <p:cNvPr id="4" name="Rectangle 3"/>
          <p:cNvSpPr/>
          <p:nvPr/>
        </p:nvSpPr>
        <p:spPr>
          <a:xfrm>
            <a:off x="336000" y="1202324"/>
            <a:ext cx="11520000" cy="72000"/>
          </a:xfrm>
          <a:prstGeom prst="rect">
            <a:avLst/>
          </a:prstGeom>
          <a:solidFill>
            <a:srgbClr val="05348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Rectangle 4"/>
          <p:cNvSpPr/>
          <p:nvPr/>
        </p:nvSpPr>
        <p:spPr>
          <a:xfrm>
            <a:off x="0" y="6678000"/>
            <a:ext cx="12191999" cy="180000"/>
          </a:xfrm>
          <a:prstGeom prst="rect">
            <a:avLst/>
          </a:prstGeom>
          <a:solidFill>
            <a:srgbClr val="05348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71958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472750"/>
            <a:ext cx="10515600" cy="729574"/>
          </a:xfrm>
        </p:spPr>
        <p:txBody>
          <a:bodyPr>
            <a:normAutofit/>
          </a:bodyPr>
          <a:lstStyle/>
          <a:p>
            <a:r>
              <a:rPr lang="vi-VN" sz="3600" b="1" smtClean="0">
                <a:solidFill>
                  <a:srgbClr val="0534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Hướng phát triển</a:t>
            </a:r>
            <a:endParaRPr lang="vi-VN" sz="3600" b="1">
              <a:solidFill>
                <a:srgbClr val="05348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6835"/>
            <a:ext cx="10515600" cy="5231165"/>
          </a:xfrm>
        </p:spPr>
        <p:txBody>
          <a:bodyPr>
            <a:normAutofit/>
          </a:bodyPr>
          <a:lstStyle/>
          <a:p>
            <a:pPr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Sitka Text Semibold" pitchFamily="2" charset="0"/>
              <a:buChar char="-"/>
            </a:pPr>
            <a:r>
              <a:rPr lang="vi-VN" sz="26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Nghiên </a:t>
            </a:r>
            <a:r>
              <a:rPr lang="vi-VN" sz="2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cứu áp dụng các mô hình xử lý ngôn ngữ tự nhiên hiện đại hơn.  </a:t>
            </a:r>
          </a:p>
          <a:p>
            <a:pPr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Sitka Text Semibold" pitchFamily="2" charset="0"/>
              <a:buChar char="-"/>
            </a:pPr>
            <a:r>
              <a:rPr lang="vi-VN" sz="2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Bổ sung chức năng xuất dữ liệu báo cáo và thống kê chuyên sâu.  </a:t>
            </a:r>
          </a:p>
          <a:p>
            <a:pPr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Font typeface="Sitka Text Semibold" pitchFamily="2" charset="0"/>
              <a:buChar char="-"/>
            </a:pPr>
            <a:r>
              <a:rPr lang="vi-VN" sz="2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Tối ưu hóa câu lệnh truy vấn và nâng cao bảo mật hệ thống.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336000" y="1202324"/>
            <a:ext cx="11520000" cy="72000"/>
          </a:xfrm>
          <a:prstGeom prst="rect">
            <a:avLst/>
          </a:prstGeom>
          <a:solidFill>
            <a:srgbClr val="05348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Rectangle 4"/>
          <p:cNvSpPr/>
          <p:nvPr/>
        </p:nvSpPr>
        <p:spPr>
          <a:xfrm>
            <a:off x="0" y="6678000"/>
            <a:ext cx="12191999" cy="180000"/>
          </a:xfrm>
          <a:prstGeom prst="rect">
            <a:avLst/>
          </a:prstGeom>
          <a:solidFill>
            <a:srgbClr val="05348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51467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6678000"/>
            <a:ext cx="12191999" cy="180000"/>
          </a:xfrm>
          <a:prstGeom prst="rect">
            <a:avLst/>
          </a:prstGeom>
          <a:solidFill>
            <a:srgbClr val="05348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2825529"/>
            <a:ext cx="10515600" cy="605059"/>
          </a:xfrm>
        </p:spPr>
        <p:txBody>
          <a:bodyPr anchor="ctr"/>
          <a:lstStyle/>
          <a:p>
            <a:pPr marL="0" indent="0" algn="ctr">
              <a:buNone/>
            </a:pPr>
            <a:r>
              <a:rPr lang="vi-VN" b="1" smtClean="0">
                <a:solidFill>
                  <a:srgbClr val="0534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XIN CẢM ƠN THẦY CÔ ĐÃ THEO DÕI BÀI BÁO CÁO</a:t>
            </a:r>
            <a:endParaRPr lang="vi-VN" b="1">
              <a:solidFill>
                <a:srgbClr val="05348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716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496</Words>
  <Application>Microsoft Office PowerPoint</Application>
  <PresentationFormat>Widescreen</PresentationFormat>
  <Paragraphs>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Sitka Text Semibold</vt:lpstr>
      <vt:lpstr>Times New Roman</vt:lpstr>
      <vt:lpstr>Office Theme</vt:lpstr>
      <vt:lpstr>ĐẠI HỌC TRÀ VINH TRƯỜNG KỸ THUẬT VÀ CÔNG NGHỆ</vt:lpstr>
      <vt:lpstr>Tính cấp thiết</vt:lpstr>
      <vt:lpstr>Mục tiêu nghiên cứu</vt:lpstr>
      <vt:lpstr>Nội dung nghiên cứu</vt:lpstr>
      <vt:lpstr>Quy trình xử lý sáng kiến</vt:lpstr>
      <vt:lpstr>Xử lý văn bản và tìm kiếm theo hướng ngữ nghĩa</vt:lpstr>
      <vt:lpstr>Chức năng hệ thống</vt:lpstr>
      <vt:lpstr>Kết quả đạt được</vt:lpstr>
      <vt:lpstr>Hạn chế</vt:lpstr>
      <vt:lpstr>Hướng phát triển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ĐẠI HỌC TRÀ VINH TRƯỜNG KỸ THUẬT VÀ CÔNG NGHỆ</dc:title>
  <dc:creator>Phạm Thế Vinh</dc:creator>
  <cp:lastModifiedBy>Phạm Thế Vinh</cp:lastModifiedBy>
  <cp:revision>131</cp:revision>
  <dcterms:created xsi:type="dcterms:W3CDTF">2026-06-28T12:56:41Z</dcterms:created>
  <dcterms:modified xsi:type="dcterms:W3CDTF">2026-07-07T13:57:40Z</dcterms:modified>
</cp:coreProperties>
</file>